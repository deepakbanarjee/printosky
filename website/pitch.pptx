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2560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spc="200" kern="0" dirty="0">
                <a:solidFill>
                  <a:srgbClr val="E850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PARTNER PITCH · 2026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457200" y="713232"/>
            <a:ext cx="68580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400" b="1" spc="-100" kern="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Print</a:t>
            </a:r>
            <a:pPr indent="0" marL="0">
              <a:buNone/>
            </a:pPr>
            <a:r>
              <a:rPr lang="en-US" sz="6400" b="1" spc="-100" kern="0" dirty="0">
                <a:solidFill>
                  <a:srgbClr val="E85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osky</a:t>
            </a:r>
            <a:endParaRPr lang="en-US" sz="6400" dirty="0"/>
          </a:p>
        </p:txBody>
      </p:sp>
      <p:sp>
        <p:nvSpPr>
          <p:cNvPr id="4" name="Text 2"/>
          <p:cNvSpPr/>
          <p:nvPr/>
        </p:nvSpPr>
        <p:spPr>
          <a:xfrm>
            <a:off x="457200" y="2240280"/>
            <a:ext cx="685800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2400" b="1" spc="-30" kern="0" dirty="0">
                <a:solidFill>
                  <a:srgbClr val="CCCCC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Print Marketplace</a:t>
            </a:r>
            <a:endParaRPr lang="en-US" sz="24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2400" b="1" spc="-30" kern="0" dirty="0">
                <a:solidFill>
                  <a:srgbClr val="CCCCC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 Thrissur.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57200" y="3657600"/>
            <a:ext cx="6400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WhatsApp → Quote → Pay → Print → Pickup</a:t>
            </a:r>
            <a:endParaRPr lang="en-US" sz="1100" dirty="0"/>
          </a:p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brand. Multiple stores. Zero friction.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9692640" y="4206240"/>
            <a:ext cx="3474720" cy="3474720"/>
          </a:xfrm>
          <a:prstGeom prst="ellipse">
            <a:avLst/>
          </a:prstGeom>
          <a:solidFill>
            <a:srgbClr val="E8500A">
              <a:alpha val="6000"/>
            </a:srgbClr>
          </a:solidFill>
          <a:ln w="6350">
            <a:solidFill>
              <a:srgbClr val="E8500A">
                <a:alpha val="12000"/>
              </a:srgbClr>
            </a:solidFill>
            <a:prstDash val="solid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1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560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spc="200" kern="0" dirty="0">
                <a:solidFill>
                  <a:srgbClr val="E850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457200" y="548640"/>
            <a:ext cx="777240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600" b="1" spc="-50" kern="0" dirty="0">
                <a:solidFill>
                  <a:srgbClr val="0D111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Printing shouldn't require a treasure hunt.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11480" y="1389888"/>
            <a:ext cx="5120640" cy="640080"/>
          </a:xfrm>
          <a:prstGeom prst="rect">
            <a:avLst>
              <a:gd name="adj" fmla="val 10000"/>
            </a:avLst>
          </a:prstGeom>
          <a:solidFill>
            <a:srgbClr val="EAE6E0"/>
          </a:solidFill>
          <a:ln w="3810">
            <a:solidFill>
              <a:srgbClr val="DDD8D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39496" y="1545336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🗺️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905256" y="1499616"/>
            <a:ext cx="4480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850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Students waste 30 min hunting for a free shop — walk in, find a queue, walk out. Repeat.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411480" y="2139696"/>
            <a:ext cx="5120640" cy="640080"/>
          </a:xfrm>
          <a:prstGeom prst="rect">
            <a:avLst>
              <a:gd name="adj" fmla="val 10000"/>
            </a:avLst>
          </a:prstGeom>
          <a:solidFill>
            <a:srgbClr val="EAE6E0"/>
          </a:solidFill>
          <a:ln w="3810">
            <a:solidFill>
              <a:srgbClr val="DDD8D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39496" y="2295144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📵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905256" y="2249424"/>
            <a:ext cx="4480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850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way to know if a shop is free before making the trip. Every visit is a gamble.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11480" y="2889504"/>
            <a:ext cx="5120640" cy="640080"/>
          </a:xfrm>
          <a:prstGeom prst="rect">
            <a:avLst>
              <a:gd name="adj" fmla="val 10000"/>
            </a:avLst>
          </a:prstGeom>
          <a:solidFill>
            <a:srgbClr val="EAE6E0"/>
          </a:solidFill>
          <a:ln w="3810">
            <a:solidFill>
              <a:srgbClr val="DDD8D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39496" y="3044952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💸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905256" y="2999232"/>
            <a:ext cx="4480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850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Stores lose jobs to each other based on proximity alone — not quality, speed, or availability.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411480" y="3639312"/>
            <a:ext cx="5120640" cy="640080"/>
          </a:xfrm>
          <a:prstGeom prst="rect">
            <a:avLst>
              <a:gd name="adj" fmla="val 10000"/>
            </a:avLst>
          </a:prstGeom>
          <a:solidFill>
            <a:srgbClr val="EAE6E0"/>
          </a:solidFill>
          <a:ln w="3810">
            <a:solidFill>
              <a:srgbClr val="DDD8D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39496" y="379476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🧾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905256" y="3749040"/>
            <a:ext cx="4480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850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digital record of jobs, payments, or customers. Zero structured repeat-customer pipeline.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5806440" y="1298448"/>
            <a:ext cx="2926080" cy="3383280"/>
          </a:xfrm>
          <a:prstGeom prst="rect">
            <a:avLst>
              <a:gd name="adj" fmla="val 3750"/>
            </a:avLst>
          </a:prstGeom>
          <a:solidFill>
            <a:srgbClr val="1B3F8B"/>
          </a:solidFill>
          <a:ln w="12700">
            <a:solidFill>
              <a:srgbClr val="1B3F8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989320" y="1536192"/>
            <a:ext cx="25603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200" b="1" spc="-100" kern="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73%</a:t>
            </a:r>
            <a:endParaRPr lang="en-US" sz="4200" dirty="0"/>
          </a:p>
        </p:txBody>
      </p:sp>
      <p:sp>
        <p:nvSpPr>
          <p:cNvPr id="18" name="Text 16"/>
          <p:cNvSpPr/>
          <p:nvPr/>
        </p:nvSpPr>
        <p:spPr>
          <a:xfrm>
            <a:off x="5989320" y="2331720"/>
            <a:ext cx="2560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85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Thrissur students</a:t>
            </a:r>
            <a:endParaRPr lang="en-US" sz="8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85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print at least once a month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6172200" y="2971800"/>
            <a:ext cx="384048" cy="36576"/>
          </a:xfrm>
          <a:prstGeom prst="rect">
            <a:avLst/>
          </a:prstGeom>
          <a:solidFill>
            <a:srgbClr val="E8500A"/>
          </a:solidFill>
          <a:ln w="12700">
            <a:solidFill>
              <a:srgbClr val="E8500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89320" y="3090672"/>
            <a:ext cx="2560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200" b="1" spc="-100" kern="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endParaRPr lang="en-US" sz="4200" dirty="0"/>
          </a:p>
        </p:txBody>
      </p:sp>
      <p:sp>
        <p:nvSpPr>
          <p:cNvPr id="21" name="Text 19"/>
          <p:cNvSpPr/>
          <p:nvPr/>
        </p:nvSpPr>
        <p:spPr>
          <a:xfrm>
            <a:off x="5989320" y="3703320"/>
            <a:ext cx="25603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85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those shops have a</a:t>
            </a:r>
            <a:endParaRPr lang="en-US" sz="8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85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digital ordering system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B3F8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2560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spc="200" kern="0" dirty="0">
                <a:solidFill>
                  <a:srgbClr val="E850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SOLUTION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457200" y="594360"/>
            <a:ext cx="822960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3000" b="1" spc="-50" kern="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One WhatsApp number.</a:t>
            </a:r>
            <a:endParaRPr lang="en-US" sz="3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3000" b="1" spc="-50" kern="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Every print shop in Thrissur.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457200" y="2240280"/>
            <a:ext cx="731520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50" dirty="0">
                <a:solidFill>
                  <a:srgbClr val="AACC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Printosky is a unified print marketplace — customers message once, we route the job to the best available store, they pay online, and pick up with a secure code.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457200" y="3291840"/>
            <a:ext cx="27432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spc="-100" kern="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457200" y="4096512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85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WhatsApp number for all stores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4023360" y="3291840"/>
            <a:ext cx="27432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spc="-100" kern="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3800" dirty="0"/>
          </a:p>
        </p:txBody>
      </p:sp>
      <p:sp>
        <p:nvSpPr>
          <p:cNvPr id="8" name="Text 6"/>
          <p:cNvSpPr/>
          <p:nvPr/>
        </p:nvSpPr>
        <p:spPr>
          <a:xfrm>
            <a:off x="4023360" y="4096512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85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Partner stores sharing the job stream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7498080" y="3291840"/>
            <a:ext cx="27432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spc="-100" kern="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endParaRPr lang="en-US" sz="3800" dirty="0"/>
          </a:p>
        </p:txBody>
      </p:sp>
      <p:sp>
        <p:nvSpPr>
          <p:cNvPr id="10" name="Text 8"/>
          <p:cNvSpPr/>
          <p:nvPr/>
        </p:nvSpPr>
        <p:spPr>
          <a:xfrm>
            <a:off x="7498080" y="4096512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85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installs required to join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9875520" y="2194560"/>
            <a:ext cx="3291840" cy="3291840"/>
          </a:xfrm>
          <a:prstGeom prst="ellipse">
            <a:avLst/>
          </a:prstGeom>
          <a:solidFill>
            <a:srgbClr val="FFFFFF">
              <a:alpha val="3000"/>
            </a:srgbClr>
          </a:solidFill>
          <a:ln w="12700">
            <a:solidFill>
              <a:srgbClr val="FFFFFF"/>
            </a:solidFill>
            <a:prstDash val="solid"/>
          </a:ln>
        </p:spPr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560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spc="200" kern="0" dirty="0">
                <a:solidFill>
                  <a:srgbClr val="E850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JOURNEY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457200" y="548640"/>
            <a:ext cx="822960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600" b="1" spc="-50" kern="0" dirty="0">
                <a:solidFill>
                  <a:srgbClr val="0D111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How it works — in 4 steps.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11480" y="1444752"/>
            <a:ext cx="256032" cy="256032"/>
          </a:xfrm>
          <a:prstGeom prst="ellipse">
            <a:avLst/>
          </a:prstGeom>
          <a:solidFill>
            <a:srgbClr val="E8500A"/>
          </a:solidFill>
          <a:ln w="12700">
            <a:solidFill>
              <a:srgbClr val="E8500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11480" y="1444752"/>
            <a:ext cx="2560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758952" y="1463040"/>
            <a:ext cx="3840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Send file via WhatsApp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58952" y="1700784"/>
            <a:ext cx="3840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messages +91 94957 06405 with their PDF. Bot responds with a quote in seconds.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411480" y="2194560"/>
            <a:ext cx="256032" cy="256032"/>
          </a:xfrm>
          <a:prstGeom prst="ellipse">
            <a:avLst/>
          </a:prstGeom>
          <a:solidFill>
            <a:srgbClr val="E8500A"/>
          </a:solidFill>
          <a:ln w="12700">
            <a:solidFill>
              <a:srgbClr val="E8500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11480" y="2194560"/>
            <a:ext cx="2560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700" dirty="0"/>
          </a:p>
        </p:txBody>
      </p:sp>
      <p:sp>
        <p:nvSpPr>
          <p:cNvPr id="10" name="Text 8"/>
          <p:cNvSpPr/>
          <p:nvPr/>
        </p:nvSpPr>
        <p:spPr>
          <a:xfrm>
            <a:off x="758952" y="2212848"/>
            <a:ext cx="3840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 &amp; pay online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758952" y="2450592"/>
            <a:ext cx="3840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approves and pays via Razorpay (UPI, card, net banking). Full amount collected upfront.</a:t>
            </a:r>
            <a:endParaRPr lang="en-US" sz="800" dirty="0"/>
          </a:p>
        </p:txBody>
      </p:sp>
      <p:sp>
        <p:nvSpPr>
          <p:cNvPr id="12" name="Shape 10"/>
          <p:cNvSpPr/>
          <p:nvPr/>
        </p:nvSpPr>
        <p:spPr>
          <a:xfrm>
            <a:off x="411480" y="2944368"/>
            <a:ext cx="256032" cy="256032"/>
          </a:xfrm>
          <a:prstGeom prst="ellipse">
            <a:avLst/>
          </a:prstGeom>
          <a:solidFill>
            <a:srgbClr val="E8500A"/>
          </a:solidFill>
          <a:ln w="12700">
            <a:solidFill>
              <a:srgbClr val="E8500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11480" y="2944368"/>
            <a:ext cx="2560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700" dirty="0"/>
          </a:p>
        </p:txBody>
      </p:sp>
      <p:sp>
        <p:nvSpPr>
          <p:cNvPr id="14" name="Text 12"/>
          <p:cNvSpPr/>
          <p:nvPr/>
        </p:nvSpPr>
        <p:spPr>
          <a:xfrm>
            <a:off x="758952" y="2962656"/>
            <a:ext cx="3840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Job auto-routed to best store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758952" y="3200400"/>
            <a:ext cx="3840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Routing engine scores every partner by capacity and queue depth, assigns in real time.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411480" y="3694176"/>
            <a:ext cx="256032" cy="256032"/>
          </a:xfrm>
          <a:prstGeom prst="ellipse">
            <a:avLst/>
          </a:prstGeom>
          <a:solidFill>
            <a:srgbClr val="E8500A"/>
          </a:solidFill>
          <a:ln w="12700">
            <a:solidFill>
              <a:srgbClr val="E8500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11480" y="3694176"/>
            <a:ext cx="2560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</a:t>
            </a:r>
            <a:endParaRPr lang="en-US" sz="700" dirty="0"/>
          </a:p>
        </p:txBody>
      </p:sp>
      <p:sp>
        <p:nvSpPr>
          <p:cNvPr id="18" name="Text 16"/>
          <p:cNvSpPr/>
          <p:nvPr/>
        </p:nvSpPr>
        <p:spPr>
          <a:xfrm>
            <a:off x="758952" y="3712464"/>
            <a:ext cx="3840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Pickup with secure code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758952" y="3950208"/>
            <a:ext cx="3840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gets a unique P-XXXX code via WhatsApp. Show it at the counter, collect the job.</a:t>
            </a:r>
            <a:endParaRPr lang="en-US" sz="800" dirty="0"/>
          </a:p>
        </p:txBody>
      </p:sp>
      <p:sp>
        <p:nvSpPr>
          <p:cNvPr id="20" name="Shape 18"/>
          <p:cNvSpPr/>
          <p:nvPr/>
        </p:nvSpPr>
        <p:spPr>
          <a:xfrm>
            <a:off x="6217920" y="1234440"/>
            <a:ext cx="3291840" cy="3566160"/>
          </a:xfrm>
          <a:prstGeom prst="rect">
            <a:avLst>
              <a:gd name="adj" fmla="val 3333"/>
            </a:avLst>
          </a:prstGeom>
          <a:solidFill>
            <a:srgbClr val="F5F1EB"/>
          </a:solidFill>
          <a:ln w="3810">
            <a:solidFill>
              <a:srgbClr val="DDD8D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382512" y="1389888"/>
            <a:ext cx="2971800" cy="658368"/>
          </a:xfrm>
          <a:prstGeom prst="rect">
            <a:avLst>
              <a:gd name="adj" fmla="val 9722"/>
            </a:avLst>
          </a:prstGeom>
          <a:solidFill>
            <a:srgbClr val="FFFFFF"/>
          </a:solidFill>
          <a:ln w="381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492240" y="1444752"/>
            <a:ext cx="27432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25D3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💬 Customer</a:t>
            </a:r>
            <a:endParaRPr lang="en-US" sz="700" dirty="0"/>
          </a:p>
        </p:txBody>
      </p:sp>
      <p:sp>
        <p:nvSpPr>
          <p:cNvPr id="23" name="Text 21"/>
          <p:cNvSpPr/>
          <p:nvPr/>
        </p:nvSpPr>
        <p:spPr>
          <a:xfrm>
            <a:off x="6492240" y="1636776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750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"Hi, 40 pages B&amp;W A4, single side."</a:t>
            </a:r>
            <a:endParaRPr lang="en-US" sz="750" dirty="0"/>
          </a:p>
        </p:txBody>
      </p:sp>
      <p:sp>
        <p:nvSpPr>
          <p:cNvPr id="24" name="Shape 22"/>
          <p:cNvSpPr/>
          <p:nvPr/>
        </p:nvSpPr>
        <p:spPr>
          <a:xfrm>
            <a:off x="6382512" y="2167128"/>
            <a:ext cx="2971800" cy="658368"/>
          </a:xfrm>
          <a:prstGeom prst="rect">
            <a:avLst>
              <a:gd name="adj" fmla="val 9722"/>
            </a:avLst>
          </a:prstGeom>
          <a:solidFill>
            <a:srgbClr val="E8500A"/>
          </a:solidFill>
          <a:ln w="12700">
            <a:solidFill>
              <a:srgbClr val="E8500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92240" y="2221992"/>
            <a:ext cx="27432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🤖 Printosky</a:t>
            </a:r>
            <a:endParaRPr lang="en-US" sz="700" dirty="0"/>
          </a:p>
        </p:txBody>
      </p:sp>
      <p:sp>
        <p:nvSpPr>
          <p:cNvPr id="26" name="Text 24"/>
          <p:cNvSpPr/>
          <p:nvPr/>
        </p:nvSpPr>
        <p:spPr>
          <a:xfrm>
            <a:off x="6492240" y="2414016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7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 pages B&amp;W A4 = ₹20. Pay here →</a:t>
            </a:r>
            <a:endParaRPr lang="en-US" sz="750" dirty="0"/>
          </a:p>
        </p:txBody>
      </p:sp>
      <p:sp>
        <p:nvSpPr>
          <p:cNvPr id="27" name="Shape 25"/>
          <p:cNvSpPr/>
          <p:nvPr/>
        </p:nvSpPr>
        <p:spPr>
          <a:xfrm>
            <a:off x="6382512" y="2944368"/>
            <a:ext cx="2971800" cy="658368"/>
          </a:xfrm>
          <a:prstGeom prst="rect">
            <a:avLst>
              <a:gd name="adj" fmla="val 9722"/>
            </a:avLst>
          </a:prstGeom>
          <a:solidFill>
            <a:srgbClr val="FFFFFF"/>
          </a:solidFill>
          <a:ln w="3810">
            <a:solidFill>
              <a:srgbClr val="E5E7EB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492240" y="2999232"/>
            <a:ext cx="27432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Confirmed</a:t>
            </a:r>
            <a:endParaRPr lang="en-US" sz="700" dirty="0"/>
          </a:p>
        </p:txBody>
      </p:sp>
      <p:sp>
        <p:nvSpPr>
          <p:cNvPr id="29" name="Text 27"/>
          <p:cNvSpPr/>
          <p:nvPr/>
        </p:nvSpPr>
        <p:spPr>
          <a:xfrm>
            <a:off x="6492240" y="3191256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750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"Order confirmed. Routed to OSP Thriprayar."</a:t>
            </a:r>
            <a:endParaRPr lang="en-US" sz="750" dirty="0"/>
          </a:p>
        </p:txBody>
      </p:sp>
      <p:sp>
        <p:nvSpPr>
          <p:cNvPr id="30" name="Shape 28"/>
          <p:cNvSpPr/>
          <p:nvPr/>
        </p:nvSpPr>
        <p:spPr>
          <a:xfrm>
            <a:off x="6382512" y="3721608"/>
            <a:ext cx="2971800" cy="658368"/>
          </a:xfrm>
          <a:prstGeom prst="rect">
            <a:avLst>
              <a:gd name="adj" fmla="val 9722"/>
            </a:avLst>
          </a:prstGeom>
          <a:solidFill>
            <a:srgbClr val="1B3F8B"/>
          </a:solidFill>
          <a:ln w="12700">
            <a:solidFill>
              <a:srgbClr val="1B3F8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492240" y="3776472"/>
            <a:ext cx="27432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🔔 Ready</a:t>
            </a:r>
            <a:endParaRPr lang="en-US" sz="700" dirty="0"/>
          </a:p>
        </p:txBody>
      </p:sp>
      <p:sp>
        <p:nvSpPr>
          <p:cNvPr id="32" name="Text 30"/>
          <p:cNvSpPr/>
          <p:nvPr/>
        </p:nvSpPr>
        <p:spPr>
          <a:xfrm>
            <a:off x="6492240" y="3968496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7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Pickup code: P-4K8X</a:t>
            </a:r>
            <a:endParaRPr lang="en-US" sz="7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7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Address: OSP, Thriprayar</a:t>
            </a:r>
            <a:endParaRPr lang="en-US" sz="7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1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560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spc="200" kern="0" dirty="0">
                <a:solidFill>
                  <a:srgbClr val="E850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PARTNER STORES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457200" y="548640"/>
            <a:ext cx="822960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400" b="1" spc="-50" kern="0" dirty="0">
                <a:solidFill>
                  <a:srgbClr val="0D111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Join Printosky. Get jobs. No software needed.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1207008"/>
            <a:ext cx="822960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Partner stores receive jobs via WhatsApp — no API, no software install. Tap ACCEPT, print, mark ready.</a:t>
            </a:r>
            <a:endParaRPr lang="en-US" sz="1050" dirty="0"/>
          </a:p>
        </p:txBody>
      </p:sp>
      <p:sp>
        <p:nvSpPr>
          <p:cNvPr id="5" name="Shape 3"/>
          <p:cNvSpPr/>
          <p:nvPr/>
        </p:nvSpPr>
        <p:spPr>
          <a:xfrm>
            <a:off x="411480" y="1719072"/>
            <a:ext cx="2633472" cy="1325880"/>
          </a:xfrm>
          <a:prstGeom prst="rect">
            <a:avLst>
              <a:gd name="adj" fmla="val 6897"/>
            </a:avLst>
          </a:prstGeom>
          <a:solidFill>
            <a:srgbClr val="FFFFFF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1837944"/>
            <a:ext cx="320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📱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886968" y="1865376"/>
            <a:ext cx="20391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D111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WhatsApp dispatch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576072" y="2194560"/>
            <a:ext cx="2304288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Jobs arrive as WhatsApp messages with the file, specs, and pickup code. Tap ACCEPT to claim.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3127248" y="1719072"/>
            <a:ext cx="2633472" cy="1325880"/>
          </a:xfrm>
          <a:prstGeom prst="rect">
            <a:avLst>
              <a:gd name="adj" fmla="val 6897"/>
            </a:avLst>
          </a:prstGeom>
          <a:solidFill>
            <a:srgbClr val="FFFFFF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64408" y="1837944"/>
            <a:ext cx="320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⚡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02736" y="1865376"/>
            <a:ext cx="20391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D111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Automatic routing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3291840" y="2194560"/>
            <a:ext cx="2304288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 sends jobs to the best available store. No bidding. No chasing customers.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5833872" y="1719072"/>
            <a:ext cx="2633472" cy="1325880"/>
          </a:xfrm>
          <a:prstGeom prst="rect">
            <a:avLst>
              <a:gd name="adj" fmla="val 6897"/>
            </a:avLst>
          </a:prstGeom>
          <a:solidFill>
            <a:srgbClr val="FFFFFF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971032" y="1837944"/>
            <a:ext cx="320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💳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309360" y="1865376"/>
            <a:ext cx="20391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D111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Instant Razorpay payouts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5998464" y="2194560"/>
            <a:ext cx="2304288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Payment splits on completion. Your share lands in your account — zero manual settlement.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3127248"/>
            <a:ext cx="2633472" cy="1325880"/>
          </a:xfrm>
          <a:prstGeom prst="rect">
            <a:avLst>
              <a:gd name="adj" fmla="val 6897"/>
            </a:avLst>
          </a:prstGeom>
          <a:solidFill>
            <a:srgbClr val="FFFFFF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48640" y="3246120"/>
            <a:ext cx="320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🔒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886968" y="3273552"/>
            <a:ext cx="20391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D111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Pickup code verification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576072" y="3602736"/>
            <a:ext cx="2304288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Customers show a P-XXXX code at counter. No name lookup, no receipt confusion.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3127248" y="3127248"/>
            <a:ext cx="2633472" cy="1325880"/>
          </a:xfrm>
          <a:prstGeom prst="rect">
            <a:avLst>
              <a:gd name="adj" fmla="val 6897"/>
            </a:avLst>
          </a:prstGeom>
          <a:solidFill>
            <a:srgbClr val="FFFFFF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264408" y="3246120"/>
            <a:ext cx="320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📊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3602736" y="3273552"/>
            <a:ext cx="20391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D111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Live order tracking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3291840" y="3602736"/>
            <a:ext cx="2304288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Customers track at printosky.com/track — no calls asking "is it done yet?"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5833872" y="3127248"/>
            <a:ext cx="2633472" cy="1325880"/>
          </a:xfrm>
          <a:prstGeom prst="rect">
            <a:avLst>
              <a:gd name="adj" fmla="val 6897"/>
            </a:avLst>
          </a:prstGeom>
          <a:solidFill>
            <a:srgbClr val="FFFFFF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971032" y="3246120"/>
            <a:ext cx="320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🛠️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6309360" y="3273552"/>
            <a:ext cx="20391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D111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Keep your setup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5998464" y="3602736"/>
            <a:ext cx="2304288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printers, your folder system — we wrap around what you have. Nothing changes.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2560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spc="200" kern="0" dirty="0">
                <a:solidFill>
                  <a:srgbClr val="E850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TECHNOLOGY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457200" y="594360"/>
            <a:ext cx="777240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600" b="1" spc="-50" kern="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Smart routing. Every job to the right store.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57200" y="1481328"/>
            <a:ext cx="731520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a customer pays, our routing engine scores every partner store in real time — by capacity, queue depth, and paper availability — then assigns automatically.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57200" y="2542032"/>
            <a:ext cx="2103120" cy="987552"/>
          </a:xfrm>
          <a:prstGeom prst="rect">
            <a:avLst>
              <a:gd name="adj" fmla="val 7407"/>
            </a:avLst>
          </a:prstGeom>
          <a:solidFill>
            <a:srgbClr val="1A2333"/>
          </a:solidFill>
          <a:ln w="12700">
            <a:solidFill>
              <a:srgbClr val="2A3A4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2633472"/>
            <a:ext cx="19202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50" spc="12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INCOMING JOB</a:t>
            </a:r>
            <a:endParaRPr lang="en-US" sz="650" dirty="0"/>
          </a:p>
        </p:txBody>
      </p:sp>
      <p:sp>
        <p:nvSpPr>
          <p:cNvPr id="7" name="Text 5"/>
          <p:cNvSpPr/>
          <p:nvPr/>
        </p:nvSpPr>
        <p:spPr>
          <a:xfrm>
            <a:off x="548640" y="2871216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40pg B&amp;W A4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2816352" y="2542032"/>
            <a:ext cx="2103120" cy="987552"/>
          </a:xfrm>
          <a:prstGeom prst="rect">
            <a:avLst>
              <a:gd name="adj" fmla="val 7407"/>
            </a:avLst>
          </a:prstGeom>
          <a:solidFill>
            <a:srgbClr val="E8500A"/>
          </a:solidFill>
          <a:ln w="12700">
            <a:solidFill>
              <a:srgbClr val="E8500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907792" y="2633472"/>
            <a:ext cx="19202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50" spc="120" kern="0" dirty="0">
                <a:solidFill>
                  <a:srgbClr val="FFDD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ROUTING ENGINE</a:t>
            </a:r>
            <a:endParaRPr lang="en-US" sz="650" dirty="0"/>
          </a:p>
        </p:txBody>
      </p:sp>
      <p:sp>
        <p:nvSpPr>
          <p:cNvPr id="10" name="Text 8"/>
          <p:cNvSpPr/>
          <p:nvPr/>
        </p:nvSpPr>
        <p:spPr>
          <a:xfrm>
            <a:off x="2907792" y="2871216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⚡ Scoring...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166360" y="2542032"/>
            <a:ext cx="2103120" cy="987552"/>
          </a:xfrm>
          <a:prstGeom prst="rect">
            <a:avLst>
              <a:gd name="adj" fmla="val 7407"/>
            </a:avLst>
          </a:prstGeom>
          <a:solidFill>
            <a:srgbClr val="1A2333"/>
          </a:solidFill>
          <a:ln w="12700">
            <a:solidFill>
              <a:srgbClr val="2A3A4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257800" y="2633472"/>
            <a:ext cx="19202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50" spc="12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STORE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5257800" y="2871216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OSP Thriprayar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2542032" y="2798064"/>
            <a:ext cx="29260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444455"/>
                </a:solidFill>
              </a:rPr>
              <a:t>→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4892040" y="2798064"/>
            <a:ext cx="29260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444455"/>
                </a:solidFill>
              </a:rPr>
              <a:t>→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411480" y="3749040"/>
            <a:ext cx="2633472" cy="1325880"/>
          </a:xfrm>
          <a:prstGeom prst="rect">
            <a:avLst>
              <a:gd name="adj" fmla="val 6897"/>
            </a:avLst>
          </a:prstGeom>
          <a:solidFill>
            <a:srgbClr val="1A2333"/>
          </a:solidFill>
          <a:ln w="12700">
            <a:solidFill>
              <a:srgbClr val="2A3A4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76072" y="3895344"/>
            <a:ext cx="230428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60 s ack timeout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576072" y="4224528"/>
            <a:ext cx="2304288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8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response in 60 s? Job auto-routes to the next best store. No job left behind.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3127248" y="3749040"/>
            <a:ext cx="2633472" cy="1325880"/>
          </a:xfrm>
          <a:prstGeom prst="rect">
            <a:avLst>
              <a:gd name="adj" fmla="val 6897"/>
            </a:avLst>
          </a:prstGeom>
          <a:solidFill>
            <a:srgbClr val="1A2333"/>
          </a:solidFill>
          <a:ln w="12700">
            <a:solidFill>
              <a:srgbClr val="2A3A4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3895344"/>
            <a:ext cx="230428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Capacity-aware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3291840" y="4224528"/>
            <a:ext cx="2304288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8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Stores declare daily capacity and paper types. Engine never overloads a store.</a:t>
            </a:r>
            <a:endParaRPr lang="en-US" sz="800" dirty="0"/>
          </a:p>
        </p:txBody>
      </p:sp>
      <p:sp>
        <p:nvSpPr>
          <p:cNvPr id="22" name="Shape 20"/>
          <p:cNvSpPr/>
          <p:nvPr/>
        </p:nvSpPr>
        <p:spPr>
          <a:xfrm>
            <a:off x="5833872" y="3749040"/>
            <a:ext cx="2633472" cy="1325880"/>
          </a:xfrm>
          <a:prstGeom prst="rect">
            <a:avLst>
              <a:gd name="adj" fmla="val 6897"/>
            </a:avLst>
          </a:prstGeom>
          <a:solidFill>
            <a:srgbClr val="1A2333"/>
          </a:solidFill>
          <a:ln w="12700">
            <a:solidFill>
              <a:srgbClr val="2A3A4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998464" y="3895344"/>
            <a:ext cx="230428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Full audit trail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5998464" y="4224528"/>
            <a:ext cx="2304288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8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routing decision is logged. Fairness disputes resolved with data, not arguments.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560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spc="200" kern="0" dirty="0">
                <a:solidFill>
                  <a:srgbClr val="E850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PAYMENTS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457200" y="548640"/>
            <a:ext cx="822960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400" b="1" spc="-50" kern="0" dirty="0">
                <a:solidFill>
                  <a:srgbClr val="0D111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Razorpay Route splits every payment instantly.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11480" y="1490472"/>
            <a:ext cx="256032" cy="256032"/>
          </a:xfrm>
          <a:prstGeom prst="ellipse">
            <a:avLst/>
          </a:prstGeom>
          <a:solidFill>
            <a:srgbClr val="E8500A"/>
          </a:solidFill>
          <a:ln w="12700">
            <a:solidFill>
              <a:srgbClr val="E8500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11480" y="1490472"/>
            <a:ext cx="2560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₹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758952" y="1508760"/>
            <a:ext cx="3840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pays full amount upfront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58952" y="1746504"/>
            <a:ext cx="3840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Collected at order time via UPI, card, or net banking.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411480" y="2267712"/>
            <a:ext cx="256032" cy="256032"/>
          </a:xfrm>
          <a:prstGeom prst="ellipse">
            <a:avLst/>
          </a:prstGeom>
          <a:solidFill>
            <a:srgbClr val="E8500A"/>
          </a:solidFill>
          <a:ln w="12700">
            <a:solidFill>
              <a:srgbClr val="E8500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11480" y="2267712"/>
            <a:ext cx="2560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⚡</a:t>
            </a:r>
            <a:endParaRPr lang="en-US" sz="700" dirty="0"/>
          </a:p>
        </p:txBody>
      </p:sp>
      <p:sp>
        <p:nvSpPr>
          <p:cNvPr id="10" name="Text 8"/>
          <p:cNvSpPr/>
          <p:nvPr/>
        </p:nvSpPr>
        <p:spPr>
          <a:xfrm>
            <a:off x="758952" y="2286000"/>
            <a:ext cx="3840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Razorpay Route splits on payment capture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758952" y="2523744"/>
            <a:ext cx="3840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Platform fee separated automatically. Partner's share transferred directly to their account.</a:t>
            </a:r>
            <a:endParaRPr lang="en-US" sz="800" dirty="0"/>
          </a:p>
        </p:txBody>
      </p:sp>
      <p:sp>
        <p:nvSpPr>
          <p:cNvPr id="12" name="Shape 10"/>
          <p:cNvSpPr/>
          <p:nvPr/>
        </p:nvSpPr>
        <p:spPr>
          <a:xfrm>
            <a:off x="411480" y="3044952"/>
            <a:ext cx="256032" cy="256032"/>
          </a:xfrm>
          <a:prstGeom prst="ellipse">
            <a:avLst/>
          </a:prstGeom>
          <a:solidFill>
            <a:srgbClr val="E8500A"/>
          </a:solidFill>
          <a:ln w="12700">
            <a:solidFill>
              <a:srgbClr val="E8500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11480" y="3044952"/>
            <a:ext cx="2560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700" dirty="0"/>
          </a:p>
        </p:txBody>
      </p:sp>
      <p:sp>
        <p:nvSpPr>
          <p:cNvPr id="14" name="Text 12"/>
          <p:cNvSpPr/>
          <p:nvPr/>
        </p:nvSpPr>
        <p:spPr>
          <a:xfrm>
            <a:off x="758952" y="3063240"/>
            <a:ext cx="3840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Settlement in your Razorpay account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758952" y="3300984"/>
            <a:ext cx="3840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intermediaries. Direct to the partner's registered bank account.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6035040" y="1298448"/>
            <a:ext cx="3200400" cy="3364992"/>
          </a:xfrm>
          <a:prstGeom prst="rect">
            <a:avLst>
              <a:gd name="adj" fmla="val 3429"/>
            </a:avLst>
          </a:prstGeom>
          <a:solidFill>
            <a:srgbClr val="F5F1EB"/>
          </a:solidFill>
          <a:ln w="3810">
            <a:solidFill>
              <a:srgbClr val="DDD8D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217920" y="1463040"/>
            <a:ext cx="2834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spc="120" kern="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 ₹100 PRINT JOB</a:t>
            </a:r>
            <a:endParaRPr lang="en-US" sz="700" dirty="0"/>
          </a:p>
        </p:txBody>
      </p:sp>
      <p:sp>
        <p:nvSpPr>
          <p:cNvPr id="18" name="Shape 16"/>
          <p:cNvSpPr/>
          <p:nvPr/>
        </p:nvSpPr>
        <p:spPr>
          <a:xfrm>
            <a:off x="6217920" y="1883664"/>
            <a:ext cx="2834640" cy="530352"/>
          </a:xfrm>
          <a:prstGeom prst="rect">
            <a:avLst>
              <a:gd name="adj" fmla="val 12069"/>
            </a:avLst>
          </a:prstGeom>
          <a:solidFill>
            <a:srgbClr val="FFFFFF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364224" y="2020824"/>
            <a:ext cx="1737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pays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8138160" y="1975104"/>
            <a:ext cx="7772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D111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₹100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6217920" y="2578608"/>
            <a:ext cx="2834640" cy="530352"/>
          </a:xfrm>
          <a:prstGeom prst="rect">
            <a:avLst>
              <a:gd name="adj" fmla="val 12069"/>
            </a:avLst>
          </a:prstGeom>
          <a:solidFill>
            <a:srgbClr val="E8500A"/>
          </a:solidFill>
          <a:ln w="12700">
            <a:solidFill>
              <a:srgbClr val="E8500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364224" y="2715768"/>
            <a:ext cx="1737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Printosky platform fee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8138160" y="2670048"/>
            <a:ext cx="7772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₹10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6217920" y="3273552"/>
            <a:ext cx="2834640" cy="530352"/>
          </a:xfrm>
          <a:prstGeom prst="rect">
            <a:avLst>
              <a:gd name="adj" fmla="val 12069"/>
            </a:avLst>
          </a:prstGeom>
          <a:solidFill>
            <a:srgbClr val="1B3F8B"/>
          </a:solidFill>
          <a:ln w="12700">
            <a:solidFill>
              <a:srgbClr val="1B3F8B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364224" y="3410712"/>
            <a:ext cx="1737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Partner store receives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8138160" y="3364992"/>
            <a:ext cx="7772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₹90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217920" y="3895344"/>
            <a:ext cx="2834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Take-rate is configurable per partner.</a:t>
            </a:r>
            <a:endParaRPr lang="en-US" sz="7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1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560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spc="200" kern="0" dirty="0">
                <a:solidFill>
                  <a:srgbClr val="E850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EXPERIENCE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457200" y="548640"/>
            <a:ext cx="822960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600" b="1" spc="-50" kern="0" dirty="0">
                <a:solidFill>
                  <a:srgbClr val="0D111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Frictionless pickup. Zero confusion.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57200" y="1234440"/>
            <a:ext cx="53035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paid job gets a cryptographically random 4-character code. Customer shows it at the counter — no name lookup, no receipt, no phone call.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11480" y="2286000"/>
            <a:ext cx="2331720" cy="749808"/>
          </a:xfrm>
          <a:prstGeom prst="rect">
            <a:avLst>
              <a:gd name="adj" fmla="val 12195"/>
            </a:avLst>
          </a:prstGeom>
          <a:solidFill>
            <a:srgbClr val="E8500A"/>
          </a:solidFill>
          <a:ln w="12700">
            <a:solidFill>
              <a:srgbClr val="E8500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11480" y="2286000"/>
            <a:ext cx="233172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spc="300" kern="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P‑4K8X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411480" y="3182112"/>
            <a:ext cx="256032" cy="256032"/>
          </a:xfrm>
          <a:prstGeom prst="ellipse">
            <a:avLst/>
          </a:prstGeom>
          <a:solidFill>
            <a:srgbClr val="E8500A"/>
          </a:solidFill>
          <a:ln w="12700">
            <a:solidFill>
              <a:srgbClr val="E8500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11480" y="3182112"/>
            <a:ext cx="2560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📲</a:t>
            </a:r>
            <a:endParaRPr lang="en-US" sz="700" dirty="0"/>
          </a:p>
        </p:txBody>
      </p:sp>
      <p:sp>
        <p:nvSpPr>
          <p:cNvPr id="9" name="Text 7"/>
          <p:cNvSpPr/>
          <p:nvPr/>
        </p:nvSpPr>
        <p:spPr>
          <a:xfrm>
            <a:off x="758952" y="3200400"/>
            <a:ext cx="3840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Sent via WhatsApp when job is ready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758952" y="3438144"/>
            <a:ext cx="3840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Store marks ready → WhatsApp notification fires instantly.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411480" y="3931920"/>
            <a:ext cx="256032" cy="256032"/>
          </a:xfrm>
          <a:prstGeom prst="ellipse">
            <a:avLst/>
          </a:prstGeom>
          <a:solidFill>
            <a:srgbClr val="E8500A"/>
          </a:solidFill>
          <a:ln w="12700">
            <a:solidFill>
              <a:srgbClr val="E8500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11480" y="3931920"/>
            <a:ext cx="2560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🔍</a:t>
            </a:r>
            <a:endParaRPr lang="en-US" sz="700" dirty="0"/>
          </a:p>
        </p:txBody>
      </p:sp>
      <p:sp>
        <p:nvSpPr>
          <p:cNvPr id="13" name="Text 11"/>
          <p:cNvSpPr/>
          <p:nvPr/>
        </p:nvSpPr>
        <p:spPr>
          <a:xfrm>
            <a:off x="758952" y="3950208"/>
            <a:ext cx="3840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tracking at printosky.com/track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758952" y="4187952"/>
            <a:ext cx="3840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login. 5 stages: Received → Paid → Printing → Ready → Delivered.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5989320" y="1261872"/>
            <a:ext cx="3291840" cy="3429000"/>
          </a:xfrm>
          <a:prstGeom prst="rect">
            <a:avLst>
              <a:gd name="adj" fmla="val 3333"/>
            </a:avLst>
          </a:prstGeom>
          <a:solidFill>
            <a:srgbClr val="FFFFFF"/>
          </a:solidFill>
          <a:ln w="5080">
            <a:solidFill>
              <a:srgbClr val="DDD8D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190488" y="1426464"/>
            <a:ext cx="290779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0" spc="120" kern="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 #P‑4K8X · LIVE STATUS</a:t>
            </a:r>
            <a:endParaRPr lang="en-US" sz="650" dirty="0"/>
          </a:p>
        </p:txBody>
      </p:sp>
      <p:sp>
        <p:nvSpPr>
          <p:cNvPr id="17" name="Shape 15"/>
          <p:cNvSpPr/>
          <p:nvPr/>
        </p:nvSpPr>
        <p:spPr>
          <a:xfrm>
            <a:off x="6245352" y="1901952"/>
            <a:ext cx="146304" cy="146304"/>
          </a:xfrm>
          <a:prstGeom prst="ellipse">
            <a:avLst/>
          </a:prstGeom>
          <a:solidFill>
            <a:srgbClr val="6B7280"/>
          </a:solidFill>
          <a:ln w="12700">
            <a:solidFill>
              <a:srgbClr val="6B728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519672" y="1856232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Received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8183880" y="1856232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750" dirty="0"/>
          </a:p>
        </p:txBody>
      </p:sp>
      <p:sp>
        <p:nvSpPr>
          <p:cNvPr id="20" name="Shape 18"/>
          <p:cNvSpPr/>
          <p:nvPr/>
        </p:nvSpPr>
        <p:spPr>
          <a:xfrm>
            <a:off x="6245352" y="2395728"/>
            <a:ext cx="146304" cy="146304"/>
          </a:xfrm>
          <a:prstGeom prst="ellipse">
            <a:avLst/>
          </a:prstGeom>
          <a:solidFill>
            <a:srgbClr val="6B7280"/>
          </a:solidFill>
          <a:ln w="12700">
            <a:solidFill>
              <a:srgbClr val="6B728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519672" y="2350008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Paid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8183880" y="2350008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750" dirty="0"/>
          </a:p>
        </p:txBody>
      </p:sp>
      <p:sp>
        <p:nvSpPr>
          <p:cNvPr id="23" name="Shape 21"/>
          <p:cNvSpPr/>
          <p:nvPr/>
        </p:nvSpPr>
        <p:spPr>
          <a:xfrm>
            <a:off x="6245352" y="2889504"/>
            <a:ext cx="146304" cy="146304"/>
          </a:xfrm>
          <a:prstGeom prst="ellipse">
            <a:avLst/>
          </a:prstGeom>
          <a:solidFill>
            <a:srgbClr val="E8500A"/>
          </a:solidFill>
          <a:ln w="12700">
            <a:solidFill>
              <a:srgbClr val="E8500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519672" y="2843784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Printing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8183880" y="2843784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E850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⟳ In progress</a:t>
            </a:r>
            <a:endParaRPr lang="en-US" sz="750" dirty="0"/>
          </a:p>
        </p:txBody>
      </p:sp>
      <p:sp>
        <p:nvSpPr>
          <p:cNvPr id="26" name="Shape 24"/>
          <p:cNvSpPr/>
          <p:nvPr/>
        </p:nvSpPr>
        <p:spPr>
          <a:xfrm>
            <a:off x="6245352" y="3383280"/>
            <a:ext cx="146304" cy="146304"/>
          </a:xfrm>
          <a:prstGeom prst="ellipse">
            <a:avLst/>
          </a:prstGeom>
          <a:solidFill>
            <a:srgbClr val="DDDDDD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519672" y="3337560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Ready for pickup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6245352" y="3877056"/>
            <a:ext cx="146304" cy="146304"/>
          </a:xfrm>
          <a:prstGeom prst="ellipse">
            <a:avLst/>
          </a:prstGeom>
          <a:solidFill>
            <a:srgbClr val="DDDDDD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519672" y="3831336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Delivered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6190488" y="4462272"/>
            <a:ext cx="290779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printosky.com/track · No login required</a:t>
            </a:r>
            <a:endParaRPr lang="en-US" sz="7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B3F8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2560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spc="200" kern="0" dirty="0">
                <a:solidFill>
                  <a:srgbClr val="E850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TRACTION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457200" y="594360"/>
            <a:ext cx="822960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3000" b="1" spc="-50" kern="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Built on a real, live store.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457200" y="1508760"/>
            <a:ext cx="777240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50" dirty="0">
                <a:solidFill>
                  <a:srgbClr val="AACC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Printosky is not a concept deck. It runs live at Oxygen Students Paradise, Thriprayar, Thrissur — processing real print jobs, real payments, real customers every day.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457200" y="2971800"/>
            <a:ext cx="27432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spc="-100" kern="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134+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457200" y="3776472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85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Jobs processed via the platform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4114800" y="2971800"/>
            <a:ext cx="27432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spc="-100" kern="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2+</a:t>
            </a:r>
            <a:endParaRPr lang="en-US" sz="3800" dirty="0"/>
          </a:p>
        </p:txBody>
      </p:sp>
      <p:sp>
        <p:nvSpPr>
          <p:cNvPr id="8" name="Text 6"/>
          <p:cNvSpPr/>
          <p:nvPr/>
        </p:nvSpPr>
        <p:spPr>
          <a:xfrm>
            <a:off x="4114800" y="3776472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85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Production printers (Konica + Epson)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7498080" y="2971800"/>
            <a:ext cx="27432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spc="-100" kern="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₹0</a:t>
            </a:r>
            <a:endParaRPr lang="en-US" sz="3800" dirty="0"/>
          </a:p>
        </p:txBody>
      </p:sp>
      <p:sp>
        <p:nvSpPr>
          <p:cNvPr id="10" name="Text 8"/>
          <p:cNvSpPr/>
          <p:nvPr/>
        </p:nvSpPr>
        <p:spPr>
          <a:xfrm>
            <a:off x="7498080" y="3776472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85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Cash — 100% digital payments via Razorpay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457200" y="4206240"/>
            <a:ext cx="8686800" cy="621792"/>
          </a:xfrm>
          <a:prstGeom prst="rect">
            <a:avLst>
              <a:gd name="adj" fmla="val 11765"/>
            </a:avLst>
          </a:prstGeom>
          <a:solidFill>
            <a:srgbClr val="142050"/>
          </a:solidFill>
          <a:ln w="12700">
            <a:solidFill>
              <a:srgbClr val="14205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94360" y="4315968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8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stack since 2025: Store PC → Watcher → Konica / Epson  ·  WhatsApp Cloud API (Meta)  ·  Razorpay  ·  Supabase  ·  Vercel API  ·  Netlify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9601200" y="3931920"/>
            <a:ext cx="3108960" cy="3108960"/>
          </a:xfrm>
          <a:prstGeom prst="ellipse">
            <a:avLst/>
          </a:prstGeom>
          <a:solidFill>
            <a:srgbClr val="FFFFFF">
              <a:alpha val="3000"/>
            </a:srgbClr>
          </a:solidFill>
          <a:ln w="12700">
            <a:solidFill>
              <a:srgbClr val="FFFFFF"/>
            </a:solidFill>
            <a:prstDash val="solid"/>
          </a:ln>
        </p:spPr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2560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spc="200" kern="0" dirty="0">
                <a:solidFill>
                  <a:srgbClr val="E850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JOIN THE MARKETPLACE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457200" y="594360"/>
            <a:ext cx="822960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3000" b="1" spc="-50" kern="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Ready to receive pre-paid</a:t>
            </a:r>
            <a:endParaRPr lang="en-US" sz="3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3000" b="1" spc="-50" kern="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jobs — automatically?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457200" y="2240280"/>
            <a:ext cx="685800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5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We're onboarding the first wave of partner stores in Thrissur. If your shop handles print jobs and you want a guaranteed pipeline of digital customers — let's talk.</a:t>
            </a:r>
            <a:endParaRPr 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457200" y="3584448"/>
            <a:ext cx="2926080" cy="566928"/>
          </a:xfrm>
          <a:prstGeom prst="rect">
            <a:avLst>
              <a:gd name="adj" fmla="val 12903"/>
            </a:avLst>
          </a:prstGeom>
          <a:solidFill>
            <a:srgbClr val="25D366"/>
          </a:solidFill>
          <a:ln w="12700">
            <a:solidFill>
              <a:srgbClr val="25D36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3584448"/>
            <a:ext cx="292608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Message us on WhatsApp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3520440" y="3584448"/>
            <a:ext cx="2286000" cy="566928"/>
          </a:xfrm>
          <a:prstGeom prst="rect">
            <a:avLst>
              <a:gd name="adj" fmla="val 12903"/>
            </a:avLst>
          </a:prstGeom>
          <a:solidFill>
            <a:srgbClr val="1A2333"/>
          </a:solidFill>
          <a:ln w="6350">
            <a:solidFill>
              <a:srgbClr val="2A3A4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520440" y="3584448"/>
            <a:ext cx="2286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  Download this deck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57200" y="4279392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wa.me/919495706405  ·  printosky.com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9418320" y="3474720"/>
            <a:ext cx="3291840" cy="3291840"/>
          </a:xfrm>
          <a:prstGeom prst="ellipse">
            <a:avLst/>
          </a:prstGeom>
          <a:solidFill>
            <a:srgbClr val="E8500A">
              <a:alpha val="6000"/>
            </a:srgbClr>
          </a:solidFill>
          <a:ln w="12700">
            <a:solidFill>
              <a:srgbClr val="E8500A"/>
            </a:solidFill>
            <a:prstDash val="solid"/>
          </a:ln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Oxygen Students Paradise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Printosky Marketplace</dc:title>
  <dc:subject>Printosky Marketplace — Partner Pitch 2026</dc:subject>
  <dc:creator>Printosky</dc:creator>
  <cp:lastModifiedBy>Printosky</cp:lastModifiedBy>
  <cp:revision>1</cp:revision>
  <dcterms:created xsi:type="dcterms:W3CDTF">2026-05-04T20:04:42Z</dcterms:created>
  <dcterms:modified xsi:type="dcterms:W3CDTF">2026-05-04T20:04:42Z</dcterms:modified>
</cp:coreProperties>
</file>